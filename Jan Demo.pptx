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B16C0-894E-4A7C-E806-86BCE77170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A53495-D319-DA27-6FC7-F2F4369F05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4987B2-7EBD-E052-B608-3AD52FE2E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C473F-144F-411A-8EEF-F6FB033E3938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A3644-95C3-8445-6629-8B334C7B5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083808-B890-4E66-4ACA-308500DDC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DB3C0-D00E-4BA9-9A41-AF9149AC54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1222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75DCB-294B-1CEB-23B2-0E0CDD874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D7F30-B6D0-B13A-DB91-1F1BB7F38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56B20-DE85-54AF-E7CC-901BE39EE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C473F-144F-411A-8EEF-F6FB033E3938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9F44D-C086-1B05-4731-603594E4B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04934-8A53-14E2-694E-71D0950F9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DB3C0-D00E-4BA9-9A41-AF9149AC54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0804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C1A73-F56F-ED1D-336A-227590038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07DAA9-FA31-C98A-997A-AB2856AD3B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759869-6879-474E-19B6-47B8C9EA5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C473F-144F-411A-8EEF-F6FB033E3938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061F5C-7376-9148-C351-3B537EA81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3BAAC3-7F92-59D8-E150-AD5EE1068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DB3C0-D00E-4BA9-9A41-AF9149AC54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470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9FDC9-D7A5-70F6-09FD-6FC1E638F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F7E49-BEA4-3040-3CDA-C412C76BDF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C710AC-3965-047D-6D1D-446BCD726B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9A20C4-91F1-84B4-257B-AF7594C39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C473F-144F-411A-8EEF-F6FB033E3938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BEF670-967E-4262-EF7E-6800B2D50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CCD456-5711-279E-20EE-3D5C47D13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DB3C0-D00E-4BA9-9A41-AF9149AC54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4521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6F1ED-2334-D316-5B6D-A4875D712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37680D-8592-045A-F99F-1A2918026B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22E05E-EBAD-6616-B498-AF13128A20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9A7B0E-7E4A-76DD-FE65-FE72111363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937D4D-5EDF-3AF6-D45E-62C5DCD66A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001A50-ED8A-405D-4218-7527696C4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C473F-144F-411A-8EEF-F6FB033E3938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3E46A2-1AA2-CE3D-0605-A03DFA69E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53661E-B9F3-54E0-9C60-8242BBB25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DB3C0-D00E-4BA9-9A41-AF9149AC54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1511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FDD92-3DF2-8CFC-F09B-A52C0C61A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32E119-914F-C327-5B23-D6DA64EBA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C473F-144F-411A-8EEF-F6FB033E3938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672967-8872-DF71-7884-0284D18A5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AB7446-705C-627D-6145-84592B81C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DB3C0-D00E-4BA9-9A41-AF9149AC54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9814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1FA041-8256-1FD5-3A3B-8AEDB369E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C473F-144F-411A-8EEF-F6FB033E3938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AE2BE7-DE88-DD44-8F39-720C8DC09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8C0683-91EE-B555-2F4B-90DD0B579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DB3C0-D00E-4BA9-9A41-AF9149AC54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5507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B683-40E5-5193-66A8-5EBEE435D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99FF9-E610-0A32-4109-C922314B3D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F825B9-BBD9-F04D-AA57-84D78E8E6E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72998A-F279-DDA8-B7BA-DABE13F6E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C473F-144F-411A-8EEF-F6FB033E3938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F76DC3-0098-9DD8-FD96-D53B19D76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202315-3935-57C7-D95C-A2DCE2686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DB3C0-D00E-4BA9-9A41-AF9149AC54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633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91AD0-F919-06F7-1359-B0A00AC30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A82C71-C702-4C10-A68A-CDC993DFBB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AF072D-D8C2-AA6D-3135-69EE9D8B34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EAB274-8C9E-3784-4BC2-36C4023FA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C473F-144F-411A-8EEF-F6FB033E3938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E84016-412E-3130-63E0-E4091A45F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CA324C-B305-B993-9E23-50489B4F9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DB3C0-D00E-4BA9-9A41-AF9149AC54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0266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F8F88-F7B1-1DFD-7C8B-6C0EBF48D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D34568-8D3E-60A8-FA17-51A5B72138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0BDB3B-6E52-0DE3-16B9-0EDE3A87C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C473F-144F-411A-8EEF-F6FB033E3938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B0D7DF-FCFC-6CB8-0B19-5618BB2A8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65086B-41FF-B9EB-2C52-89AC86FE3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DB3C0-D00E-4BA9-9A41-AF9149AC54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856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2A3156-B11F-6DA3-1F10-1FC20B8154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9DBD3E-6320-0929-AA75-35F7D544C9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3A0CEA-988E-312D-491F-080CD0463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C473F-144F-411A-8EEF-F6FB033E3938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C7F2C2-A48B-6AFE-0AEA-10A4C5B55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DEFE4-B877-8F9B-A7CF-4A4F497A5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DB3C0-D00E-4BA9-9A41-AF9149AC54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3385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E5EB1A-8C8A-7955-D68C-59A6984A4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B58F2-415D-915D-C14D-A33EAB2C3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8C9C5-26DD-17F2-F256-9040461D75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AC473F-144F-411A-8EEF-F6FB033E3938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ADA785-F55E-CC73-C502-1E6B7B7569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F48F26-3C44-7F3D-F0FA-EEAAE3D1D5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7DB3C0-D00E-4BA9-9A41-AF9149AC54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6980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4FDBE-4C3B-AF6D-78C0-47B6F7DA55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3296" y="363411"/>
            <a:ext cx="9144000" cy="697293"/>
          </a:xfrm>
        </p:spPr>
        <p:txBody>
          <a:bodyPr anchor="ctr">
            <a:normAutofit/>
          </a:bodyPr>
          <a:lstStyle/>
          <a:p>
            <a:pPr algn="l"/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Jan End Demo Walkthrough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D13074-6416-9F52-639C-3FE104A8B81D}"/>
              </a:ext>
            </a:extLst>
          </p:cNvPr>
          <p:cNvSpPr txBox="1"/>
          <p:nvPr/>
        </p:nvSpPr>
        <p:spPr>
          <a:xfrm>
            <a:off x="207264" y="1196061"/>
            <a:ext cx="10533888" cy="2900794"/>
          </a:xfrm>
          <a:prstGeom prst="rect">
            <a:avLst/>
          </a:prstGeom>
          <a:noFill/>
          <a:ln>
            <a:noFill/>
          </a:ln>
        </p:spPr>
        <p:txBody>
          <a:bodyPr wrap="square" lIns="165100" tIns="0" rIns="0" bIns="190500" anchor="ctr">
            <a:spAutoFit/>
          </a:bodyPr>
          <a:lstStyle/>
          <a:p>
            <a:pPr marL="422910" indent="-285750" algn="l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600" b="1" i="0" dirty="0">
                <a:solidFill>
                  <a:srgbClr val="1F27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 &amp; Rationale:</a:t>
            </a:r>
            <a:r>
              <a:rPr sz="1600" b="0" i="0" dirty="0">
                <a:solidFill>
                  <a:srgbClr val="1F27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600" b="0" i="0" dirty="0">
                <a:solidFill>
                  <a:srgbClr val="1F27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</a:t>
            </a:r>
            <a:r>
              <a:rPr sz="1600" b="0" i="0" dirty="0">
                <a:solidFill>
                  <a:srgbClr val="1F27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AI-powered automation system to streamline manual architecture reviews across BFSI. The goal is to eliminate delays, ensure consistency, and improve decision accuracy using GenAI and agentic frameworks.</a:t>
            </a:r>
          </a:p>
          <a:p>
            <a:pPr marL="422910" lvl="1" indent="-285750" algn="l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600" b="1" i="0" dirty="0">
                <a:solidFill>
                  <a:srgbClr val="1F27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Core Components:</a:t>
            </a:r>
            <a:r>
              <a:rPr sz="1600" b="0" i="0" dirty="0">
                <a:solidFill>
                  <a:srgbClr val="1F27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Frontend and Backend apps secured via V-Nets, deployed in Azure App Services through</a:t>
            </a:r>
            <a:r>
              <a:rPr lang="en-IN" sz="1600" b="0" i="0" dirty="0">
                <a:solidFill>
                  <a:srgbClr val="1F27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600" b="0" i="0" dirty="0" err="1">
                <a:solidFill>
                  <a:srgbClr val="1F27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Github</a:t>
            </a:r>
            <a:r>
              <a:rPr lang="en-IN" sz="1600" b="0" i="0" dirty="0">
                <a:solidFill>
                  <a:srgbClr val="1F27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600" b="0" i="0" dirty="0">
                <a:solidFill>
                  <a:srgbClr val="1F27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600" b="0" i="0" dirty="0">
                <a:solidFill>
                  <a:srgbClr val="1F27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sz="1600" b="0" i="0" dirty="0">
                <a:solidFill>
                  <a:srgbClr val="1F27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Bitbucket</a:t>
            </a:r>
            <a:r>
              <a:rPr lang="en-IN" sz="1600" b="0" i="0" dirty="0">
                <a:solidFill>
                  <a:srgbClr val="1F27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YBL)</a:t>
            </a:r>
            <a:r>
              <a:rPr lang="en-IN" sz="1600" dirty="0">
                <a:solidFill>
                  <a:srgbClr val="1F27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600" b="0" i="0" dirty="0">
                <a:solidFill>
                  <a:srgbClr val="1F27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integrated with Azure Blob Storage for policies, standards, and documents</a:t>
            </a:r>
            <a:r>
              <a:rPr lang="en-IN" sz="1600" b="0" i="0" dirty="0">
                <a:solidFill>
                  <a:srgbClr val="1F27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600" b="0" i="0" dirty="0">
                <a:solidFill>
                  <a:srgbClr val="1F27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Azure AI Search powers vector-based RAG for context retrieval.</a:t>
            </a:r>
          </a:p>
          <a:p>
            <a:pPr marL="422910" lvl="1" indent="-285750" algn="l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600" b="1" i="0" dirty="0">
                <a:solidFill>
                  <a:srgbClr val="1F27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 Automation:</a:t>
            </a:r>
            <a:r>
              <a:rPr sz="1600" b="0" i="0" dirty="0">
                <a:solidFill>
                  <a:srgbClr val="1F27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Two backend processes implemented:</a:t>
            </a:r>
            <a:endParaRPr lang="en-IN" sz="1600" b="0" i="0" dirty="0">
              <a:solidFill>
                <a:srgbClr val="1F272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80110" lvl="2" indent="-285750">
              <a:buSzPct val="100000"/>
              <a:buFont typeface="Arial" panose="020B0604020202020204" pitchFamily="34" charset="0"/>
              <a:buChar char="•"/>
            </a:pPr>
            <a:r>
              <a:rPr sz="1600" b="0" i="0" dirty="0">
                <a:solidFill>
                  <a:srgbClr val="1F27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 Architecture Review converting Excel input to JSON for LLM evaluation</a:t>
            </a:r>
            <a:endParaRPr lang="en-IN" sz="1600" b="0" i="0" dirty="0">
              <a:solidFill>
                <a:srgbClr val="1F272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80110" lvl="2" indent="-285750">
              <a:buSzPct val="100000"/>
              <a:buFont typeface="Arial" panose="020B0604020202020204" pitchFamily="34" charset="0"/>
              <a:buChar char="•"/>
            </a:pPr>
            <a:r>
              <a:rPr sz="1600" b="0" i="0" dirty="0">
                <a:solidFill>
                  <a:srgbClr val="1F27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Enterprise Architecture Review leveraging Microsoft Agent Framework to orchestrate multiple AI agents and validate architecture compliance.</a:t>
            </a:r>
          </a:p>
          <a:p>
            <a:pPr marL="422910" lvl="1" indent="-285750" algn="l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600" b="1" i="0" dirty="0">
                <a:solidFill>
                  <a:srgbClr val="1F27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Operational Intelligence:</a:t>
            </a:r>
            <a:r>
              <a:rPr sz="1600" b="0" i="0" dirty="0">
                <a:solidFill>
                  <a:srgbClr val="1F27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Extensive telemetry captures LLM token usage, execution time and process-level logs for every review. Each interaction is securely logged with user details to ensure traceability and audit compliance.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CAB67C9-8B63-633F-B967-1A9B5B5ECBF8}"/>
              </a:ext>
            </a:extLst>
          </p:cNvPr>
          <p:cNvSpPr txBox="1"/>
          <p:nvPr/>
        </p:nvSpPr>
        <p:spPr>
          <a:xfrm>
            <a:off x="463296" y="4211542"/>
            <a:ext cx="9046464" cy="19697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sz="1600" b="1" i="0" dirty="0">
                <a:solidFill>
                  <a:srgbClr val="1F27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Scope of Demo</a:t>
            </a:r>
            <a:r>
              <a:rPr lang="en-IN" sz="1600" b="1" i="0" dirty="0">
                <a:solidFill>
                  <a:srgbClr val="1F27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sz="1600" b="0" i="0" dirty="0">
                <a:solidFill>
                  <a:srgbClr val="1F27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Demonstrates the Standard Review process end-to-end focusing on automation efficiency, GenAI integration and review accuracy without Azure agent orchestration.</a:t>
            </a:r>
            <a:endParaRPr lang="en-IN" sz="1600" b="0" i="0" dirty="0">
              <a:solidFill>
                <a:srgbClr val="1F272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i="0" dirty="0">
                <a:solidFill>
                  <a:srgbClr val="1F27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</a:t>
            </a:r>
            <a:r>
              <a:rPr lang="en-IN" sz="1600" b="1" dirty="0">
                <a:solidFill>
                  <a:srgbClr val="1F27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IN" sz="1600" b="0" i="0" dirty="0">
                <a:solidFill>
                  <a:srgbClr val="1F27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Excel workbook extracted from Promethean</a:t>
            </a:r>
            <a:r>
              <a:rPr lang="en-IN" sz="1600" dirty="0">
                <a:solidFill>
                  <a:srgbClr val="1F27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IN" sz="1600" b="0" i="0" dirty="0">
                <a:solidFill>
                  <a:srgbClr val="1F27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contain all configuration details on ports, APIs, compute sizing, tech stack </a:t>
            </a:r>
            <a:r>
              <a:rPr lang="en-IN" sz="1600" dirty="0">
                <a:solidFill>
                  <a:srgbClr val="1F27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along with architecture diagram)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i="0" dirty="0">
                <a:solidFill>
                  <a:srgbClr val="1F27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Process: </a:t>
            </a:r>
            <a:r>
              <a:rPr lang="en-IN" sz="1600" b="0" i="0" dirty="0">
                <a:solidFill>
                  <a:srgbClr val="1F27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Backend converts Excel to JSON, with a context prompt</a:t>
            </a:r>
            <a:r>
              <a:rPr lang="en-IN" sz="1600" dirty="0">
                <a:solidFill>
                  <a:srgbClr val="1F27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600" b="0" i="0" dirty="0">
                <a:solidFill>
                  <a:srgbClr val="1F27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invokes LLM for review. All interactions, LLM token usage, and process runtimes are logged securely in Azure.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i="0" dirty="0">
                <a:solidFill>
                  <a:srgbClr val="1F27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Output: </a:t>
            </a:r>
            <a:r>
              <a:rPr lang="en-IN" sz="1600" b="0" i="0" dirty="0">
                <a:solidFill>
                  <a:srgbClr val="1F27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LLM produces executive summary, comparison to market best practices, gaps in current architecture, and actionable recommendations. Review results and logs stored for traceability.</a:t>
            </a:r>
          </a:p>
        </p:txBody>
      </p:sp>
    </p:spTree>
    <p:extLst>
      <p:ext uri="{BB962C8B-B14F-4D97-AF65-F5344CB8AC3E}">
        <p14:creationId xmlns:p14="http://schemas.microsoft.com/office/powerpoint/2010/main" val="3854003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271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Jan End Demo Walkthrough</vt:lpstr>
    </vt:vector>
  </TitlesOfParts>
  <Company>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Mohan Krishna Kanakamedala</dc:creator>
  <cp:lastModifiedBy>Mohan Krishna Kanakamedala</cp:lastModifiedBy>
  <cp:revision>2</cp:revision>
  <dcterms:created xsi:type="dcterms:W3CDTF">2026-01-14T07:46:16Z</dcterms:created>
  <dcterms:modified xsi:type="dcterms:W3CDTF">2026-01-14T08:01:46Z</dcterms:modified>
</cp:coreProperties>
</file>